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5" r:id="rId9"/>
    <p:sldId id="266" r:id="rId10"/>
    <p:sldId id="264" r:id="rId11"/>
    <p:sldId id="263"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p:scale>
          <a:sx n="92" d="100"/>
          <a:sy n="92" d="100"/>
        </p:scale>
        <p:origin x="336"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4/3/2025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4/3/2025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4/3/2025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4/3/2025</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4/3/2025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4/3/2025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analyticsvidhya.com/blog/2022/01/introduction-to-the-neural-network-model-glossary-and-backpropagation/"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0DC5A-849D-4436-BBF7-9C4B4EA6A530}"/>
              </a:ext>
            </a:extLst>
          </p:cNvPr>
          <p:cNvSpPr>
            <a:spLocks noGrp="1"/>
          </p:cNvSpPr>
          <p:nvPr>
            <p:ph type="ctrTitle"/>
          </p:nvPr>
        </p:nvSpPr>
        <p:spPr>
          <a:xfrm>
            <a:off x="651318" y="1984016"/>
            <a:ext cx="9478433" cy="1646302"/>
          </a:xfrm>
        </p:spPr>
        <p:txBody>
          <a:bodyPr/>
          <a:lstStyle/>
          <a:p>
            <a:pPr algn="ctr"/>
            <a:r>
              <a:rPr lang="en-US" dirty="0"/>
              <a:t>Variation of Backpropagation in Neural Networks </a:t>
            </a:r>
            <a:endParaRPr lang="en-IN" dirty="0"/>
          </a:p>
        </p:txBody>
      </p:sp>
      <p:sp>
        <p:nvSpPr>
          <p:cNvPr id="3" name="Subtitle 2">
            <a:extLst>
              <a:ext uri="{FF2B5EF4-FFF2-40B4-BE49-F238E27FC236}">
                <a16:creationId xmlns:a16="http://schemas.microsoft.com/office/drawing/2014/main" id="{1F5F1E66-5F24-493C-8EB8-9F7CD861AD67}"/>
              </a:ext>
            </a:extLst>
          </p:cNvPr>
          <p:cNvSpPr>
            <a:spLocks noGrp="1"/>
          </p:cNvSpPr>
          <p:nvPr>
            <p:ph type="subTitle" idx="1"/>
          </p:nvPr>
        </p:nvSpPr>
        <p:spPr/>
        <p:txBody>
          <a:bodyPr/>
          <a:lstStyle/>
          <a:p>
            <a:r>
              <a:rPr lang="en-US" dirty="0"/>
              <a:t>By </a:t>
            </a:r>
            <a:r>
              <a:rPr lang="en-US" dirty="0" err="1"/>
              <a:t>Kulvir</a:t>
            </a:r>
            <a:r>
              <a:rPr lang="en-US" dirty="0"/>
              <a:t> Singh </a:t>
            </a:r>
            <a:r>
              <a:rPr lang="en-US" dirty="0" err="1"/>
              <a:t>Saggu</a:t>
            </a:r>
            <a:endParaRPr lang="en-US" dirty="0"/>
          </a:p>
          <a:p>
            <a:r>
              <a:rPr lang="en-US" dirty="0"/>
              <a:t>(GU-2021-4246)</a:t>
            </a:r>
            <a:endParaRPr lang="en-IN" dirty="0"/>
          </a:p>
        </p:txBody>
      </p:sp>
    </p:spTree>
    <p:extLst>
      <p:ext uri="{BB962C8B-B14F-4D97-AF65-F5344CB8AC3E}">
        <p14:creationId xmlns:p14="http://schemas.microsoft.com/office/powerpoint/2010/main" val="34036163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3F683-F47A-4E65-8B74-E7DE4CB709E5}"/>
              </a:ext>
            </a:extLst>
          </p:cNvPr>
          <p:cNvSpPr>
            <a:spLocks noGrp="1"/>
          </p:cNvSpPr>
          <p:nvPr>
            <p:ph type="title"/>
          </p:nvPr>
        </p:nvSpPr>
        <p:spPr/>
        <p:txBody>
          <a:bodyPr/>
          <a:lstStyle/>
          <a:p>
            <a:r>
              <a:rPr lang="en-US" dirty="0"/>
              <a:t>AGENDA</a:t>
            </a:r>
            <a:endParaRPr lang="en-IN" dirty="0"/>
          </a:p>
        </p:txBody>
      </p:sp>
      <p:sp>
        <p:nvSpPr>
          <p:cNvPr id="3" name="Content Placeholder 2">
            <a:extLst>
              <a:ext uri="{FF2B5EF4-FFF2-40B4-BE49-F238E27FC236}">
                <a16:creationId xmlns:a16="http://schemas.microsoft.com/office/drawing/2014/main" id="{8B6B1E86-9ADA-4C37-BCB3-293A25621D6D}"/>
              </a:ext>
            </a:extLst>
          </p:cNvPr>
          <p:cNvSpPr>
            <a:spLocks noGrp="1"/>
          </p:cNvSpPr>
          <p:nvPr>
            <p:ph idx="1"/>
          </p:nvPr>
        </p:nvSpPr>
        <p:spPr/>
        <p:txBody>
          <a:bodyPr/>
          <a:lstStyle/>
          <a:p>
            <a:r>
              <a:rPr lang="en-US" dirty="0"/>
              <a:t>What is Backpropagation?</a:t>
            </a:r>
          </a:p>
          <a:p>
            <a:r>
              <a:rPr lang="en-US" dirty="0"/>
              <a:t>What is Backpropagation in a Neural Network?</a:t>
            </a:r>
          </a:p>
          <a:p>
            <a:r>
              <a:rPr lang="en-US" dirty="0"/>
              <a:t>How does Backpropagation works?</a:t>
            </a:r>
          </a:p>
          <a:p>
            <a:r>
              <a:rPr lang="en-US" dirty="0"/>
              <a:t>Benefits of Backpropagation</a:t>
            </a:r>
          </a:p>
          <a:p>
            <a:r>
              <a:rPr lang="en-US" dirty="0"/>
              <a:t>Applications of Backpropagation</a:t>
            </a:r>
            <a:endParaRPr lang="en-IN" dirty="0"/>
          </a:p>
        </p:txBody>
      </p:sp>
    </p:spTree>
    <p:extLst>
      <p:ext uri="{BB962C8B-B14F-4D97-AF65-F5344CB8AC3E}">
        <p14:creationId xmlns:p14="http://schemas.microsoft.com/office/powerpoint/2010/main" val="8395694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0A603-9CE5-4289-8700-E83F57CA73E7}"/>
              </a:ext>
            </a:extLst>
          </p:cNvPr>
          <p:cNvSpPr>
            <a:spLocks noGrp="1"/>
          </p:cNvSpPr>
          <p:nvPr>
            <p:ph type="title"/>
          </p:nvPr>
        </p:nvSpPr>
        <p:spPr/>
        <p:txBody>
          <a:bodyPr/>
          <a:lstStyle/>
          <a:p>
            <a:r>
              <a:rPr lang="en-US" dirty="0"/>
              <a:t>Let me ask you a question?</a:t>
            </a:r>
            <a:endParaRPr lang="en-IN" dirty="0"/>
          </a:p>
        </p:txBody>
      </p:sp>
      <p:sp>
        <p:nvSpPr>
          <p:cNvPr id="3" name="Content Placeholder 2">
            <a:extLst>
              <a:ext uri="{FF2B5EF4-FFF2-40B4-BE49-F238E27FC236}">
                <a16:creationId xmlns:a16="http://schemas.microsoft.com/office/drawing/2014/main" id="{535B04A9-E715-439A-91A7-473468D6730A}"/>
              </a:ext>
            </a:extLst>
          </p:cNvPr>
          <p:cNvSpPr>
            <a:spLocks noGrp="1"/>
          </p:cNvSpPr>
          <p:nvPr>
            <p:ph idx="1"/>
          </p:nvPr>
        </p:nvSpPr>
        <p:spPr/>
        <p:txBody>
          <a:bodyPr/>
          <a:lstStyle/>
          <a:p>
            <a:r>
              <a:rPr lang="en-US" dirty="0"/>
              <a:t>Which among of the following is not a layer of a neural network?</a:t>
            </a:r>
          </a:p>
          <a:p>
            <a:r>
              <a:rPr lang="en-US" dirty="0"/>
              <a:t>A. Input Layer</a:t>
            </a:r>
          </a:p>
          <a:p>
            <a:r>
              <a:rPr lang="en-US" dirty="0"/>
              <a:t>B. Output Layer</a:t>
            </a:r>
          </a:p>
          <a:p>
            <a:r>
              <a:rPr lang="en-US" dirty="0"/>
              <a:t>C. Propagation Layer</a:t>
            </a:r>
          </a:p>
          <a:p>
            <a:r>
              <a:rPr lang="en-US" dirty="0"/>
              <a:t>D. Hidden Layer</a:t>
            </a:r>
            <a:endParaRPr lang="en-IN" dirty="0"/>
          </a:p>
        </p:txBody>
      </p:sp>
    </p:spTree>
    <p:extLst>
      <p:ext uri="{BB962C8B-B14F-4D97-AF65-F5344CB8AC3E}">
        <p14:creationId xmlns:p14="http://schemas.microsoft.com/office/powerpoint/2010/main" val="42132542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F72AC-BBC8-41F6-BE03-20EE70A221BE}"/>
              </a:ext>
            </a:extLst>
          </p:cNvPr>
          <p:cNvSpPr>
            <a:spLocks noGrp="1"/>
          </p:cNvSpPr>
          <p:nvPr>
            <p:ph type="title"/>
          </p:nvPr>
        </p:nvSpPr>
        <p:spPr/>
        <p:txBody>
          <a:bodyPr/>
          <a:lstStyle/>
          <a:p>
            <a:r>
              <a:rPr lang="en-US" dirty="0"/>
              <a:t>What is Backpropagation?</a:t>
            </a:r>
            <a:br>
              <a:rPr lang="en-US" dirty="0"/>
            </a:br>
            <a:endParaRPr lang="en-IN" dirty="0"/>
          </a:p>
        </p:txBody>
      </p:sp>
      <p:sp>
        <p:nvSpPr>
          <p:cNvPr id="3" name="Content Placeholder 2">
            <a:extLst>
              <a:ext uri="{FF2B5EF4-FFF2-40B4-BE49-F238E27FC236}">
                <a16:creationId xmlns:a16="http://schemas.microsoft.com/office/drawing/2014/main" id="{3437FECB-2463-4A21-875A-6795F33AA4F0}"/>
              </a:ext>
            </a:extLst>
          </p:cNvPr>
          <p:cNvSpPr>
            <a:spLocks noGrp="1"/>
          </p:cNvSpPr>
          <p:nvPr>
            <p:ph idx="1"/>
          </p:nvPr>
        </p:nvSpPr>
        <p:spPr>
          <a:xfrm>
            <a:off x="677334" y="2160589"/>
            <a:ext cx="8533168" cy="3880773"/>
          </a:xfrm>
        </p:spPr>
        <p:txBody>
          <a:bodyPr>
            <a:normAutofit/>
          </a:bodyPr>
          <a:lstStyle/>
          <a:p>
            <a:pPr algn="just"/>
            <a:r>
              <a:rPr lang="en-US" dirty="0"/>
              <a:t>Backpropagation is an algorithm which is created to test errors which will travel back from input nodes to output nodes. </a:t>
            </a:r>
          </a:p>
          <a:p>
            <a:pPr algn="just"/>
            <a:r>
              <a:rPr lang="en-US" u="sng" dirty="0">
                <a:hlinkClick r:id="rId2"/>
              </a:rPr>
              <a:t>Backpropagation</a:t>
            </a:r>
            <a:r>
              <a:rPr lang="en-US" dirty="0"/>
              <a:t> is a training algorithm used for training feedforward neural networks. It plays an important part in improving the predictions made by neural networks. This is because backpropagation is able to improve the output of the neural network iteratively.</a:t>
            </a:r>
          </a:p>
          <a:p>
            <a:pPr algn="just"/>
            <a:r>
              <a:rPr lang="en-US" dirty="0"/>
              <a:t>In a feedforward neural network, the input moves forward from the input layer to the output layer. Backpropagation helps improve the neural network’s output. It does this by propagating the error backward from the output layer to the input layer.</a:t>
            </a:r>
          </a:p>
          <a:p>
            <a:pPr algn="just"/>
            <a:r>
              <a:rPr lang="en-US" dirty="0"/>
              <a:t>Backpropagation is applied to improve accuracy in Data Mining and Machine Learning.</a:t>
            </a:r>
          </a:p>
        </p:txBody>
      </p:sp>
    </p:spTree>
    <p:extLst>
      <p:ext uri="{BB962C8B-B14F-4D97-AF65-F5344CB8AC3E}">
        <p14:creationId xmlns:p14="http://schemas.microsoft.com/office/powerpoint/2010/main" val="612966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207DA-8A7F-4322-94AE-35570F4EE6E4}"/>
              </a:ext>
            </a:extLst>
          </p:cNvPr>
          <p:cNvSpPr>
            <a:spLocks noGrp="1"/>
          </p:cNvSpPr>
          <p:nvPr>
            <p:ph type="title"/>
          </p:nvPr>
        </p:nvSpPr>
        <p:spPr/>
        <p:txBody>
          <a:bodyPr/>
          <a:lstStyle/>
          <a:p>
            <a:r>
              <a:rPr lang="en-US" dirty="0"/>
              <a:t>What is Backpropagation in a Neural Network?</a:t>
            </a:r>
            <a:endParaRPr lang="en-IN" dirty="0"/>
          </a:p>
        </p:txBody>
      </p:sp>
      <p:sp>
        <p:nvSpPr>
          <p:cNvPr id="3" name="Content Placeholder 2">
            <a:extLst>
              <a:ext uri="{FF2B5EF4-FFF2-40B4-BE49-F238E27FC236}">
                <a16:creationId xmlns:a16="http://schemas.microsoft.com/office/drawing/2014/main" id="{080287DB-488F-4403-9433-EFB0FCE8FAFD}"/>
              </a:ext>
            </a:extLst>
          </p:cNvPr>
          <p:cNvSpPr>
            <a:spLocks noGrp="1"/>
          </p:cNvSpPr>
          <p:nvPr>
            <p:ph idx="1"/>
          </p:nvPr>
        </p:nvSpPr>
        <p:spPr/>
        <p:txBody>
          <a:bodyPr/>
          <a:lstStyle/>
          <a:p>
            <a:pPr lvl="1"/>
            <a:r>
              <a:rPr lang="en-US" dirty="0"/>
              <a:t>It is similar to a biological network that contains neuron coupled with each other.</a:t>
            </a:r>
          </a:p>
          <a:p>
            <a:pPr lvl="1"/>
            <a:r>
              <a:rPr lang="en-US" dirty="0"/>
              <a:t>Backpropagation is used in neural networks to train the network by adjusting weights and biases based on the error (difference between predicted and actual outputs), enabling the network to learn and make better predictions</a:t>
            </a:r>
          </a:p>
          <a:p>
            <a:pPr lvl="1"/>
            <a:endParaRPr lang="en-IN" dirty="0"/>
          </a:p>
        </p:txBody>
      </p:sp>
      <p:pic>
        <p:nvPicPr>
          <p:cNvPr id="6" name="Picture 5">
            <a:extLst>
              <a:ext uri="{FF2B5EF4-FFF2-40B4-BE49-F238E27FC236}">
                <a16:creationId xmlns:a16="http://schemas.microsoft.com/office/drawing/2014/main" id="{976EFFEF-BD9B-4136-90A7-F061D8961D4C}"/>
              </a:ext>
            </a:extLst>
          </p:cNvPr>
          <p:cNvPicPr>
            <a:picLocks noChangeAspect="1"/>
          </p:cNvPicPr>
          <p:nvPr/>
        </p:nvPicPr>
        <p:blipFill>
          <a:blip r:embed="rId2"/>
          <a:stretch>
            <a:fillRect/>
          </a:stretch>
        </p:blipFill>
        <p:spPr>
          <a:xfrm>
            <a:off x="2371108" y="3497631"/>
            <a:ext cx="5438103" cy="2773920"/>
          </a:xfrm>
          <a:prstGeom prst="rect">
            <a:avLst/>
          </a:prstGeom>
        </p:spPr>
      </p:pic>
    </p:spTree>
    <p:extLst>
      <p:ext uri="{BB962C8B-B14F-4D97-AF65-F5344CB8AC3E}">
        <p14:creationId xmlns:p14="http://schemas.microsoft.com/office/powerpoint/2010/main" val="1742778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108C863-4425-4E96-B294-ACE2371D0F00}"/>
              </a:ext>
            </a:extLst>
          </p:cNvPr>
          <p:cNvPicPr>
            <a:picLocks noChangeAspect="1"/>
          </p:cNvPicPr>
          <p:nvPr/>
        </p:nvPicPr>
        <p:blipFill>
          <a:blip r:embed="rId2"/>
          <a:stretch>
            <a:fillRect/>
          </a:stretch>
        </p:blipFill>
        <p:spPr>
          <a:xfrm>
            <a:off x="1972635" y="3429000"/>
            <a:ext cx="6986967" cy="3142868"/>
          </a:xfrm>
          <a:prstGeom prst="rect">
            <a:avLst/>
          </a:prstGeom>
        </p:spPr>
      </p:pic>
      <p:sp>
        <p:nvSpPr>
          <p:cNvPr id="2" name="Title 1">
            <a:extLst>
              <a:ext uri="{FF2B5EF4-FFF2-40B4-BE49-F238E27FC236}">
                <a16:creationId xmlns:a16="http://schemas.microsoft.com/office/drawing/2014/main" id="{ABD207DA-8A7F-4322-94AE-35570F4EE6E4}"/>
              </a:ext>
            </a:extLst>
          </p:cNvPr>
          <p:cNvSpPr>
            <a:spLocks noGrp="1"/>
          </p:cNvSpPr>
          <p:nvPr>
            <p:ph type="title"/>
          </p:nvPr>
        </p:nvSpPr>
        <p:spPr/>
        <p:txBody>
          <a:bodyPr/>
          <a:lstStyle/>
          <a:p>
            <a:r>
              <a:rPr lang="en-US" dirty="0"/>
              <a:t>How does Backpropagation works?</a:t>
            </a:r>
            <a:endParaRPr lang="en-IN" dirty="0"/>
          </a:p>
        </p:txBody>
      </p:sp>
      <p:sp>
        <p:nvSpPr>
          <p:cNvPr id="3" name="Content Placeholder 2">
            <a:extLst>
              <a:ext uri="{FF2B5EF4-FFF2-40B4-BE49-F238E27FC236}">
                <a16:creationId xmlns:a16="http://schemas.microsoft.com/office/drawing/2014/main" id="{080287DB-488F-4403-9433-EFB0FCE8FAFD}"/>
              </a:ext>
            </a:extLst>
          </p:cNvPr>
          <p:cNvSpPr>
            <a:spLocks noGrp="1"/>
          </p:cNvSpPr>
          <p:nvPr>
            <p:ph idx="1"/>
          </p:nvPr>
        </p:nvSpPr>
        <p:spPr>
          <a:xfrm>
            <a:off x="901777" y="1930400"/>
            <a:ext cx="8596668" cy="3880773"/>
          </a:xfrm>
        </p:spPr>
        <p:txBody>
          <a:bodyPr/>
          <a:lstStyle/>
          <a:p>
            <a:pPr lvl="1" algn="just"/>
            <a:r>
              <a:rPr lang="en-US" dirty="0"/>
              <a:t>It consists of an input layer, one or more hidden layers, and an output layer. The input layer receives the input into the neural network, and each input has a weight attached to it.</a:t>
            </a:r>
          </a:p>
          <a:p>
            <a:pPr lvl="1" algn="just"/>
            <a:r>
              <a:rPr lang="en-US" dirty="0"/>
              <a:t>If the weights are randomly assigned, the neural network will likely make the wrong predictions. It will give out the incorrect output.</a:t>
            </a:r>
          </a:p>
          <a:p>
            <a:pPr marL="457200" lvl="1" indent="0">
              <a:buNone/>
            </a:pPr>
            <a:endParaRPr lang="en-IN" dirty="0"/>
          </a:p>
        </p:txBody>
      </p:sp>
    </p:spTree>
    <p:extLst>
      <p:ext uri="{BB962C8B-B14F-4D97-AF65-F5344CB8AC3E}">
        <p14:creationId xmlns:p14="http://schemas.microsoft.com/office/powerpoint/2010/main" val="41857380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207DA-8A7F-4322-94AE-35570F4EE6E4}"/>
              </a:ext>
            </a:extLst>
          </p:cNvPr>
          <p:cNvSpPr>
            <a:spLocks noGrp="1"/>
          </p:cNvSpPr>
          <p:nvPr>
            <p:ph type="title"/>
          </p:nvPr>
        </p:nvSpPr>
        <p:spPr/>
        <p:txBody>
          <a:bodyPr/>
          <a:lstStyle/>
          <a:p>
            <a:r>
              <a:rPr lang="en-US" dirty="0"/>
              <a:t>How does Backpropagation works?</a:t>
            </a:r>
            <a:endParaRPr lang="en-IN" dirty="0"/>
          </a:p>
        </p:txBody>
      </p:sp>
      <p:sp>
        <p:nvSpPr>
          <p:cNvPr id="3" name="Content Placeholder 2">
            <a:extLst>
              <a:ext uri="{FF2B5EF4-FFF2-40B4-BE49-F238E27FC236}">
                <a16:creationId xmlns:a16="http://schemas.microsoft.com/office/drawing/2014/main" id="{080287DB-488F-4403-9433-EFB0FCE8FAFD}"/>
              </a:ext>
            </a:extLst>
          </p:cNvPr>
          <p:cNvSpPr>
            <a:spLocks noGrp="1"/>
          </p:cNvSpPr>
          <p:nvPr>
            <p:ph idx="1"/>
          </p:nvPr>
        </p:nvSpPr>
        <p:spPr>
          <a:xfrm>
            <a:off x="642543" y="2004002"/>
            <a:ext cx="8596668" cy="3880773"/>
          </a:xfrm>
        </p:spPr>
        <p:txBody>
          <a:bodyPr/>
          <a:lstStyle/>
          <a:p>
            <a:pPr lvl="1" algn="just"/>
            <a:r>
              <a:rPr lang="en-US" dirty="0"/>
              <a:t>When the neural network gives out the incorrect output, this leads to an output error. This error is the difference between the actual and predicted outputs. A cost function measures this error. The </a:t>
            </a:r>
            <a:r>
              <a:rPr lang="en-US" b="1" dirty="0"/>
              <a:t>cost function (J) indicates how accurately the model performs</a:t>
            </a:r>
            <a:r>
              <a:rPr lang="en-US" dirty="0"/>
              <a:t>. It tells us how far-off our predicted output values are from our actual values. It is also known as the error. Because the cost function quantifies the error, we aim to minimize the cost function.</a:t>
            </a:r>
          </a:p>
          <a:p>
            <a:pPr marL="457200" lvl="1" indent="0">
              <a:buNone/>
            </a:pPr>
            <a:endParaRPr lang="en-IN" dirty="0"/>
          </a:p>
        </p:txBody>
      </p:sp>
      <p:pic>
        <p:nvPicPr>
          <p:cNvPr id="4" name="Picture 3">
            <a:extLst>
              <a:ext uri="{FF2B5EF4-FFF2-40B4-BE49-F238E27FC236}">
                <a16:creationId xmlns:a16="http://schemas.microsoft.com/office/drawing/2014/main" id="{67B08E85-EB4C-4854-AB66-7692050E0EEE}"/>
              </a:ext>
            </a:extLst>
          </p:cNvPr>
          <p:cNvPicPr>
            <a:picLocks noChangeAspect="1"/>
          </p:cNvPicPr>
          <p:nvPr/>
        </p:nvPicPr>
        <p:blipFill>
          <a:blip r:embed="rId2"/>
          <a:stretch>
            <a:fillRect/>
          </a:stretch>
        </p:blipFill>
        <p:spPr>
          <a:xfrm>
            <a:off x="3061632" y="3809856"/>
            <a:ext cx="3758490" cy="2438544"/>
          </a:xfrm>
          <a:prstGeom prst="rect">
            <a:avLst/>
          </a:prstGeom>
        </p:spPr>
      </p:pic>
    </p:spTree>
    <p:extLst>
      <p:ext uri="{BB962C8B-B14F-4D97-AF65-F5344CB8AC3E}">
        <p14:creationId xmlns:p14="http://schemas.microsoft.com/office/powerpoint/2010/main" val="41818695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98CFC-46E2-4157-8A98-94AC0ACC2823}"/>
              </a:ext>
            </a:extLst>
          </p:cNvPr>
          <p:cNvSpPr>
            <a:spLocks noGrp="1"/>
          </p:cNvSpPr>
          <p:nvPr>
            <p:ph type="title"/>
          </p:nvPr>
        </p:nvSpPr>
        <p:spPr/>
        <p:txBody>
          <a:bodyPr/>
          <a:lstStyle/>
          <a:p>
            <a:r>
              <a:rPr lang="en-US" dirty="0"/>
              <a:t>Variations in Backpropagation</a:t>
            </a:r>
            <a:endParaRPr lang="en-IN" dirty="0"/>
          </a:p>
        </p:txBody>
      </p:sp>
      <p:sp>
        <p:nvSpPr>
          <p:cNvPr id="3" name="Content Placeholder 2">
            <a:extLst>
              <a:ext uri="{FF2B5EF4-FFF2-40B4-BE49-F238E27FC236}">
                <a16:creationId xmlns:a16="http://schemas.microsoft.com/office/drawing/2014/main" id="{230B77B2-CC31-44E9-BDA2-669DFCEF58DD}"/>
              </a:ext>
            </a:extLst>
          </p:cNvPr>
          <p:cNvSpPr>
            <a:spLocks noGrp="1"/>
          </p:cNvSpPr>
          <p:nvPr>
            <p:ph idx="1"/>
          </p:nvPr>
        </p:nvSpPr>
        <p:spPr/>
        <p:txBody>
          <a:bodyPr/>
          <a:lstStyle/>
          <a:p>
            <a:pPr algn="just"/>
            <a:r>
              <a:rPr lang="en-US" dirty="0"/>
              <a:t>A fully connected neural network with </a:t>
            </a:r>
            <a:r>
              <a:rPr lang="en-US" dirty="0" err="1"/>
              <a:t>i</a:t>
            </a:r>
            <a:r>
              <a:rPr lang="en-US" dirty="0"/>
              <a:t> inputs, h hidden nodes, and o outputs has (</a:t>
            </a:r>
            <a:r>
              <a:rPr lang="en-US" dirty="0" err="1"/>
              <a:t>i</a:t>
            </a:r>
            <a:r>
              <a:rPr lang="en-US" dirty="0"/>
              <a:t> * h) + h + (h * o) + o weights and biases. For example, a neural network with 5 inputs, 6 hidden nodes, and 3 outputs has (5 * 6) + 6 + (6 * 3) + 3 = 57 weights and biases.</a:t>
            </a:r>
          </a:p>
          <a:p>
            <a:pPr algn="just"/>
            <a:r>
              <a:rPr lang="en-US" b="1" dirty="0"/>
              <a:t>Note:</a:t>
            </a:r>
            <a:r>
              <a:rPr lang="en-US" dirty="0"/>
              <a:t> </a:t>
            </a:r>
            <a:r>
              <a:rPr lang="en-US" i="1" dirty="0"/>
              <a:t>Gradient descent is an optimization algorithm for finding out the local minima of a differentiable function, it helps us to find the best parameters(Weights and Biases) for the algorithm we are using for our model.</a:t>
            </a:r>
          </a:p>
          <a:p>
            <a:pPr marL="0" indent="0" algn="just">
              <a:buNone/>
            </a:pPr>
            <a:endParaRPr lang="en-IN" dirty="0"/>
          </a:p>
        </p:txBody>
      </p:sp>
    </p:spTree>
    <p:extLst>
      <p:ext uri="{BB962C8B-B14F-4D97-AF65-F5344CB8AC3E}">
        <p14:creationId xmlns:p14="http://schemas.microsoft.com/office/powerpoint/2010/main" val="3155336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98CFC-46E2-4157-8A98-94AC0ACC2823}"/>
              </a:ext>
            </a:extLst>
          </p:cNvPr>
          <p:cNvSpPr>
            <a:spLocks noGrp="1"/>
          </p:cNvSpPr>
          <p:nvPr>
            <p:ph type="title"/>
          </p:nvPr>
        </p:nvSpPr>
        <p:spPr/>
        <p:txBody>
          <a:bodyPr/>
          <a:lstStyle/>
          <a:p>
            <a:r>
              <a:rPr lang="en-US" dirty="0"/>
              <a:t>What is stochastic, Batch and mini Batch algorithm?</a:t>
            </a:r>
            <a:endParaRPr lang="en-IN" dirty="0"/>
          </a:p>
        </p:txBody>
      </p:sp>
      <p:sp>
        <p:nvSpPr>
          <p:cNvPr id="3" name="Content Placeholder 2">
            <a:extLst>
              <a:ext uri="{FF2B5EF4-FFF2-40B4-BE49-F238E27FC236}">
                <a16:creationId xmlns:a16="http://schemas.microsoft.com/office/drawing/2014/main" id="{230B77B2-CC31-44E9-BDA2-669DFCEF58DD}"/>
              </a:ext>
            </a:extLst>
          </p:cNvPr>
          <p:cNvSpPr>
            <a:spLocks noGrp="1"/>
          </p:cNvSpPr>
          <p:nvPr>
            <p:ph idx="1"/>
          </p:nvPr>
        </p:nvSpPr>
        <p:spPr/>
        <p:txBody>
          <a:bodyPr/>
          <a:lstStyle/>
          <a:p>
            <a:pPr algn="just"/>
            <a:r>
              <a:rPr lang="en-IN" b="1" dirty="0"/>
              <a:t>Batch Gradient Descent: </a:t>
            </a:r>
            <a:r>
              <a:rPr lang="en-US" i="1" dirty="0"/>
              <a:t>It is a technique where all the data is taken into consideration while making a single update to the parameters of our model.</a:t>
            </a:r>
          </a:p>
          <a:p>
            <a:pPr algn="just"/>
            <a:r>
              <a:rPr lang="en-IN" b="1" dirty="0"/>
              <a:t>Stochastic Gradient Descent: </a:t>
            </a:r>
            <a:r>
              <a:rPr lang="en-US" i="1" dirty="0"/>
              <a:t>It is a technique where one row or one input is taken at a time to make a single update to the parameters of our model.</a:t>
            </a:r>
            <a:endParaRPr lang="en-IN" b="1" dirty="0"/>
          </a:p>
          <a:p>
            <a:pPr algn="just"/>
            <a:r>
              <a:rPr lang="en-IN" b="1" dirty="0"/>
              <a:t>Mini Batch Gradient Descent: </a:t>
            </a:r>
            <a:r>
              <a:rPr lang="en-US" i="1" dirty="0"/>
              <a:t>It is a technique where a batch is taken in consideration at a time to make a single update to the parameters of our model, we can set the batch size according to us , we set the batch size and (no. of batches = Total Rows in data/batch size), it is a mid way between Batch gradient descent and Stochastic gradient descent.</a:t>
            </a:r>
            <a:endParaRPr lang="en-IN" b="1" dirty="0"/>
          </a:p>
          <a:p>
            <a:pPr algn="just"/>
            <a:endParaRPr lang="en-IN" dirty="0"/>
          </a:p>
        </p:txBody>
      </p:sp>
    </p:spTree>
    <p:extLst>
      <p:ext uri="{BB962C8B-B14F-4D97-AF65-F5344CB8AC3E}">
        <p14:creationId xmlns:p14="http://schemas.microsoft.com/office/powerpoint/2010/main" val="10377323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C7310-5CD6-4CD8-9024-6C5DF905AACC}"/>
              </a:ext>
            </a:extLst>
          </p:cNvPr>
          <p:cNvSpPr>
            <a:spLocks noGrp="1"/>
          </p:cNvSpPr>
          <p:nvPr>
            <p:ph type="title"/>
          </p:nvPr>
        </p:nvSpPr>
        <p:spPr/>
        <p:txBody>
          <a:bodyPr/>
          <a:lstStyle/>
          <a:p>
            <a:r>
              <a:rPr lang="en-US" dirty="0"/>
              <a:t>Benefits of Backpropagation</a:t>
            </a:r>
            <a:endParaRPr lang="en-IN" dirty="0"/>
          </a:p>
        </p:txBody>
      </p:sp>
      <p:sp>
        <p:nvSpPr>
          <p:cNvPr id="3" name="Content Placeholder 2">
            <a:extLst>
              <a:ext uri="{FF2B5EF4-FFF2-40B4-BE49-F238E27FC236}">
                <a16:creationId xmlns:a16="http://schemas.microsoft.com/office/drawing/2014/main" id="{178367A1-C865-4373-A8CB-EADE4007EF2C}"/>
              </a:ext>
            </a:extLst>
          </p:cNvPr>
          <p:cNvSpPr>
            <a:spLocks noGrp="1"/>
          </p:cNvSpPr>
          <p:nvPr>
            <p:ph idx="1"/>
          </p:nvPr>
        </p:nvSpPr>
        <p:spPr/>
        <p:txBody>
          <a:bodyPr>
            <a:normAutofit/>
          </a:bodyPr>
          <a:lstStyle/>
          <a:p>
            <a:pPr algn="just"/>
            <a:r>
              <a:rPr lang="en-US" sz="1600" dirty="0"/>
              <a:t>It's essential for training deep neural networks, which are capable of learning complex, non-linear relationships in data. </a:t>
            </a:r>
          </a:p>
          <a:p>
            <a:pPr algn="just" fontAlgn="ctr"/>
            <a:r>
              <a:rPr lang="en-US" sz="1600" dirty="0"/>
              <a:t>Backpropagation can be applied to various tasks, including classification, regression, and pattern recognition, making it a versatile tool for different machine learning problems. </a:t>
            </a:r>
          </a:p>
          <a:p>
            <a:pPr algn="just"/>
            <a:r>
              <a:rPr lang="en-US" sz="1600" dirty="0"/>
              <a:t>It automates the learning process, allowing the model to adjust its weights to minimize errors and improve performance over time. </a:t>
            </a:r>
          </a:p>
          <a:p>
            <a:pPr algn="just"/>
            <a:r>
              <a:rPr lang="en-US" sz="1600" dirty="0"/>
              <a:t>Backpropagation is memory-efficient in computing derivatives, consuming less memory compared to other optimization method.</a:t>
            </a:r>
            <a:endParaRPr lang="en-IN" sz="1600" dirty="0"/>
          </a:p>
        </p:txBody>
      </p:sp>
    </p:spTree>
    <p:extLst>
      <p:ext uri="{BB962C8B-B14F-4D97-AF65-F5344CB8AC3E}">
        <p14:creationId xmlns:p14="http://schemas.microsoft.com/office/powerpoint/2010/main" val="5789904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5C838-8025-4E06-8F98-77C6C895E24D}"/>
              </a:ext>
            </a:extLst>
          </p:cNvPr>
          <p:cNvSpPr>
            <a:spLocks noGrp="1"/>
          </p:cNvSpPr>
          <p:nvPr>
            <p:ph type="title"/>
          </p:nvPr>
        </p:nvSpPr>
        <p:spPr/>
        <p:txBody>
          <a:bodyPr/>
          <a:lstStyle/>
          <a:p>
            <a:r>
              <a:rPr lang="en-US" dirty="0"/>
              <a:t>Applications of Backpropagation</a:t>
            </a:r>
            <a:endParaRPr lang="en-IN" dirty="0"/>
          </a:p>
        </p:txBody>
      </p:sp>
      <p:sp>
        <p:nvSpPr>
          <p:cNvPr id="3" name="Content Placeholder 2">
            <a:extLst>
              <a:ext uri="{FF2B5EF4-FFF2-40B4-BE49-F238E27FC236}">
                <a16:creationId xmlns:a16="http://schemas.microsoft.com/office/drawing/2014/main" id="{2A0848FF-1215-4AE8-8ABD-9E32B86B0A78}"/>
              </a:ext>
            </a:extLst>
          </p:cNvPr>
          <p:cNvSpPr>
            <a:spLocks noGrp="1"/>
          </p:cNvSpPr>
          <p:nvPr>
            <p:ph idx="1"/>
          </p:nvPr>
        </p:nvSpPr>
        <p:spPr/>
        <p:txBody>
          <a:bodyPr>
            <a:normAutofit/>
          </a:bodyPr>
          <a:lstStyle/>
          <a:p>
            <a:pPr algn="just"/>
            <a:r>
              <a:rPr lang="en-IN" sz="1600" b="1" dirty="0"/>
              <a:t>Image Recognition: </a:t>
            </a:r>
            <a:r>
              <a:rPr lang="en-US" sz="1600" dirty="0"/>
              <a:t>Backpropagation trains neural networks to recognize objects, faces, and other visual patterns in images. </a:t>
            </a:r>
          </a:p>
          <a:p>
            <a:pPr algn="just"/>
            <a:r>
              <a:rPr lang="en-IN" sz="1600" b="1" dirty="0"/>
              <a:t>Object Detection: </a:t>
            </a:r>
            <a:r>
              <a:rPr lang="en-US" sz="1600" dirty="0"/>
              <a:t>It enables the detection and localization of objects within images, crucial for applications like autonomous vehicles.</a:t>
            </a:r>
          </a:p>
          <a:p>
            <a:pPr algn="just"/>
            <a:r>
              <a:rPr lang="en-IN" sz="1600" b="1" dirty="0"/>
              <a:t>Face Recognition: </a:t>
            </a:r>
            <a:r>
              <a:rPr lang="en-US" sz="1600" dirty="0"/>
              <a:t>It enables the detection and localization of objects within images, crucial for applications like autonomous vehicle.</a:t>
            </a:r>
          </a:p>
          <a:p>
            <a:pPr algn="just"/>
            <a:r>
              <a:rPr lang="en-IN" sz="1600" b="1" dirty="0"/>
              <a:t>Automatic Speech Recognition (ASR): </a:t>
            </a:r>
            <a:r>
              <a:rPr lang="en-US" sz="1600" dirty="0"/>
              <a:t>Backpropagation is used to train neural networks to convert spoken words into text.</a:t>
            </a:r>
            <a:endParaRPr lang="en-IN" sz="1600" b="1" dirty="0"/>
          </a:p>
        </p:txBody>
      </p:sp>
      <p:pic>
        <p:nvPicPr>
          <p:cNvPr id="4" name="Picture 3">
            <a:extLst>
              <a:ext uri="{FF2B5EF4-FFF2-40B4-BE49-F238E27FC236}">
                <a16:creationId xmlns:a16="http://schemas.microsoft.com/office/drawing/2014/main" id="{298A32BD-A420-457B-BC6D-E17C97131A34}"/>
              </a:ext>
            </a:extLst>
          </p:cNvPr>
          <p:cNvPicPr>
            <a:picLocks noChangeAspect="1"/>
          </p:cNvPicPr>
          <p:nvPr/>
        </p:nvPicPr>
        <p:blipFill>
          <a:blip r:embed="rId2"/>
          <a:stretch>
            <a:fillRect/>
          </a:stretch>
        </p:blipFill>
        <p:spPr>
          <a:xfrm>
            <a:off x="3024540" y="4638503"/>
            <a:ext cx="3902256" cy="2051337"/>
          </a:xfrm>
          <a:prstGeom prst="rect">
            <a:avLst/>
          </a:prstGeom>
        </p:spPr>
      </p:pic>
    </p:spTree>
    <p:extLst>
      <p:ext uri="{BB962C8B-B14F-4D97-AF65-F5344CB8AC3E}">
        <p14:creationId xmlns:p14="http://schemas.microsoft.com/office/powerpoint/2010/main" val="2507014324"/>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322</TotalTime>
  <Words>865</Words>
  <Application>Microsoft Office PowerPoint</Application>
  <PresentationFormat>Widescreen</PresentationFormat>
  <Paragraphs>45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Trebuchet MS</vt:lpstr>
      <vt:lpstr>Wingdings 3</vt:lpstr>
      <vt:lpstr>Facet</vt:lpstr>
      <vt:lpstr>Variation of Backpropagation in Neural Networks </vt:lpstr>
      <vt:lpstr>AGENDA</vt:lpstr>
      <vt:lpstr>Let me ask you a question?</vt:lpstr>
      <vt:lpstr>What is Backpropagation? </vt:lpstr>
      <vt:lpstr>What is Backpropagation in a Neural Network?</vt:lpstr>
      <vt:lpstr>How does Backpropagation works?</vt:lpstr>
      <vt:lpstr>How does Backpropagation works?</vt:lpstr>
      <vt:lpstr>Variations in Backpropagation</vt:lpstr>
      <vt:lpstr>What is stochastic, Batch and mini Batch algorithm?</vt:lpstr>
      <vt:lpstr>Benefits of Backpropagation</vt:lpstr>
      <vt:lpstr>Applications of Backpropagation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Variation of Backpropagation in Neural Networks</dc:title>
  <dc:creator>KULVIR SINGH</dc:creator>
  <cp:lastModifiedBy>KULVIR SINGH</cp:lastModifiedBy>
  <cp:revision>13</cp:revision>
  <dcterms:created xsi:type="dcterms:W3CDTF">2025-04-02T13:39:56Z</dcterms:created>
  <dcterms:modified xsi:type="dcterms:W3CDTF">2025-04-03T05:23:57Z</dcterms:modified>
</cp:coreProperties>
</file>